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5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Montserrat" pitchFamily="2" charset="77"/>
      <p:regular r:id="rId13"/>
      <p:bold r:id="rId14"/>
      <p:italic r:id="rId15"/>
      <p:boldItalic r:id="rId16"/>
    </p:embeddedFont>
    <p:embeddedFont>
      <p:font typeface="Raleway" pitchFamily="2" charset="77"/>
      <p:regular r:id="rId17"/>
      <p:bold r:id="rId18"/>
      <p:italic r:id="rId19"/>
      <p:boldItalic r:id="rId20"/>
    </p:embeddedFont>
    <p:embeddedFont>
      <p:font typeface="Raleway ExtraBold" pitchFamily="2" charset="77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cHWMutAott093hkOlChyo2GHe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BC5121A-0F14-4823-B5EB-14E5B51F3253}">
  <a:tblStyle styleId="{BBC5121A-0F14-4823-B5EB-14E5B51F3253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DFD"/>
          </a:solidFill>
        </a:fill>
      </a:tcStyle>
    </a:wholeTbl>
    <a:band1H>
      <a:tcTxStyle/>
      <a:tcStyle>
        <a:tcBdr/>
        <a:fill>
          <a:solidFill>
            <a:srgbClr val="CDD8F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8F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55"/>
  </p:normalViewPr>
  <p:slideViewPr>
    <p:cSldViewPr snapToGrid="0">
      <p:cViewPr varScale="1">
        <p:scale>
          <a:sx n="169" d="100"/>
          <a:sy n="169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9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Cash on hand</c:v>
                </c:pt>
              </c:strCache>
            </c:strRef>
          </c:tx>
          <c:spPr>
            <a:solidFill>
              <a:srgbClr val="418477"/>
            </a:solidFill>
          </c:spPr>
          <c:invertIfNegative val="1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8A3-6948-8AD5-D3EA9949E7AA}"/>
              </c:ext>
            </c:extLst>
          </c:dPt>
          <c:dPt>
            <c:idx val="1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3-08A3-6948-8AD5-D3EA9949E7AA}"/>
              </c:ext>
            </c:extLst>
          </c:dPt>
          <c:dPt>
            <c:idx val="2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5-08A3-6948-8AD5-D3EA9949E7AA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08A3-6948-8AD5-D3EA9949E7AA}"/>
              </c:ext>
            </c:extLst>
          </c:dPt>
          <c:dPt>
            <c:idx val="4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9-08A3-6948-8AD5-D3EA9949E7AA}"/>
              </c:ext>
            </c:extLst>
          </c:dPt>
          <c:dPt>
            <c:idx val="5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B-08A3-6948-8AD5-D3EA9949E7AA}"/>
              </c:ext>
            </c:extLst>
          </c:dPt>
          <c:dPt>
            <c:idx val="6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D-08A3-6948-8AD5-D3EA9949E7AA}"/>
              </c:ext>
            </c:extLst>
          </c:dPt>
          <c:dPt>
            <c:idx val="7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F-08A3-6948-8AD5-D3EA9949E7AA}"/>
              </c:ext>
            </c:extLst>
          </c:dPt>
          <c:dPt>
            <c:idx val="8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1-08A3-6948-8AD5-D3EA9949E7AA}"/>
              </c:ext>
            </c:extLst>
          </c:dPt>
          <c:dPt>
            <c:idx val="9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3-08A3-6948-8AD5-D3EA9949E7AA}"/>
              </c:ext>
            </c:extLst>
          </c:dPt>
          <c:dPt>
            <c:idx val="1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15-08A3-6948-8AD5-D3EA9949E7AA}"/>
              </c:ext>
            </c:extLst>
          </c:dPt>
          <c:dPt>
            <c:idx val="11"/>
            <c:invertIfNegative val="1"/>
            <c:bubble3D val="0"/>
            <c:spPr>
              <a:solidFill>
                <a:srgbClr val="F07245"/>
              </a:solidFill>
            </c:spPr>
            <c:extLst>
              <c:ext xmlns:c16="http://schemas.microsoft.com/office/drawing/2014/chart" uri="{C3380CC4-5D6E-409C-BE32-E72D297353CC}">
                <c16:uniqueId val="{00000017-08A3-6948-8AD5-D3EA9949E7A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6282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Aug 25</c:v>
                </c:pt>
                <c:pt idx="1">
                  <c:v>Sep 25</c:v>
                </c:pt>
                <c:pt idx="2">
                  <c:v>Oct 25</c:v>
                </c:pt>
                <c:pt idx="3">
                  <c:v>Nov 25</c:v>
                </c:pt>
                <c:pt idx="4">
                  <c:v>Dec 25</c:v>
                </c:pt>
                <c:pt idx="5">
                  <c:v>Jan 26</c:v>
                </c:pt>
                <c:pt idx="6">
                  <c:v>Feb 26</c:v>
                </c:pt>
                <c:pt idx="7">
                  <c:v>Mar 26</c:v>
                </c:pt>
                <c:pt idx="8">
                  <c:v>Apr 26</c:v>
                </c:pt>
                <c:pt idx="9">
                  <c:v>May 26</c:v>
                </c:pt>
                <c:pt idx="10">
                  <c:v>Jun 26</c:v>
                </c:pt>
                <c:pt idx="11">
                  <c:v>Jul 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1.9</c:v>
                </c:pt>
                <c:pt idx="1">
                  <c:v>1.89</c:v>
                </c:pt>
                <c:pt idx="2">
                  <c:v>1.95</c:v>
                </c:pt>
                <c:pt idx="3">
                  <c:v>1.75</c:v>
                </c:pt>
                <c:pt idx="4">
                  <c:v>1.52</c:v>
                </c:pt>
                <c:pt idx="5">
                  <c:v>1.5</c:v>
                </c:pt>
                <c:pt idx="6">
                  <c:v>1.76</c:v>
                </c:pt>
                <c:pt idx="7">
                  <c:v>1.99</c:v>
                </c:pt>
                <c:pt idx="8">
                  <c:v>2.16</c:v>
                </c:pt>
                <c:pt idx="9">
                  <c:v>2.35</c:v>
                </c:pt>
                <c:pt idx="10">
                  <c:v>2.48</c:v>
                </c:pt>
                <c:pt idx="11">
                  <c:v>2.2400000000000002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8-08A3-6948-8AD5-D3EA9949E7A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94949"/>
                </a:solidFill>
                <a:latin typeface="Montserra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8080"/>
                </a:solidFill>
                <a:latin typeface="Montserrat"/>
              </a:defRPr>
            </a:pPr>
            <a:endParaRPr lang="en-US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Expenses</c:v>
                </c:pt>
              </c:strCache>
            </c:strRef>
          </c:tx>
          <c:spPr>
            <a:solidFill>
              <a:srgbClr val="418477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07245"/>
              </a:solidFill>
            </c:spPr>
            <c:extLst>
              <c:ext xmlns:c16="http://schemas.microsoft.com/office/drawing/2014/chart" uri="{C3380CC4-5D6E-409C-BE32-E72D297353CC}">
                <c16:uniqueId val="{00000001-59E4-B041-82CD-63B45E08BE32}"/>
              </c:ext>
            </c:extLst>
          </c:dPt>
          <c:dPt>
            <c:idx val="1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3-59E4-B041-82CD-63B45E08BE32}"/>
              </c:ext>
            </c:extLst>
          </c:dPt>
          <c:dPt>
            <c:idx val="2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5-59E4-B041-82CD-63B45E08BE32}"/>
              </c:ext>
            </c:extLst>
          </c:dPt>
          <c:dPt>
            <c:idx val="3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7-59E4-B041-82CD-63B45E08BE32}"/>
              </c:ext>
            </c:extLst>
          </c:dPt>
          <c:dPt>
            <c:idx val="4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9-59E4-B041-82CD-63B45E08BE32}"/>
              </c:ext>
            </c:extLst>
          </c:dPt>
          <c:dPt>
            <c:idx val="5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B-59E4-B041-82CD-63B45E08BE32}"/>
              </c:ext>
            </c:extLst>
          </c:dPt>
          <c:dPt>
            <c:idx val="6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D-59E4-B041-82CD-63B45E08BE32}"/>
              </c:ext>
            </c:extLst>
          </c:dPt>
          <c:dPt>
            <c:idx val="7"/>
            <c:invertIfNegative val="1"/>
            <c:bubble3D val="0"/>
            <c:spPr>
              <a:solidFill>
                <a:srgbClr val="418477"/>
              </a:solidFill>
            </c:spPr>
            <c:extLst>
              <c:ext xmlns:c16="http://schemas.microsoft.com/office/drawing/2014/chart" uri="{C3380CC4-5D6E-409C-BE32-E72D297353CC}">
                <c16:uniqueId val="{0000000F-59E4-B041-82CD-63B45E08BE3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26282A"/>
                    </a:solidFill>
                    <a:latin typeface="Montserrat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Conference</c:v>
                </c:pt>
                <c:pt idx="1">
                  <c:v>Personnel</c:v>
                </c:pt>
                <c:pt idx="2">
                  <c:v>Gen. &amp; admin</c:v>
                </c:pt>
                <c:pt idx="3">
                  <c:v>Projects</c:v>
                </c:pt>
                <c:pt idx="4">
                  <c:v>Local chapter</c:v>
                </c:pt>
                <c:pt idx="5">
                  <c:v>Professional</c:v>
                </c:pt>
                <c:pt idx="6">
                  <c:v>Outreach</c:v>
                </c:pt>
                <c:pt idx="7">
                  <c:v>Other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1456</c:v>
                </c:pt>
                <c:pt idx="1">
                  <c:v>650</c:v>
                </c:pt>
                <c:pt idx="2">
                  <c:v>477</c:v>
                </c:pt>
                <c:pt idx="3">
                  <c:v>243</c:v>
                </c:pt>
                <c:pt idx="4">
                  <c:v>55</c:v>
                </c:pt>
                <c:pt idx="5">
                  <c:v>57</c:v>
                </c:pt>
                <c:pt idx="6">
                  <c:v>30</c:v>
                </c:pt>
                <c:pt idx="7">
                  <c:v>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10-59E4-B041-82CD-63B45E08BE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494949"/>
                </a:solidFill>
                <a:latin typeface="Montserrat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808080"/>
                </a:solidFill>
                <a:latin typeface="Montserrat"/>
              </a:defRPr>
            </a:pPr>
            <a:endParaRPr lang="en-US"/>
          </a:p>
        </c:txPr>
        <c:crossAx val="-2068027336"/>
        <c:crosses val="autoZero"/>
        <c:crossBetween val="between"/>
        <c:majorUnit val="5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242829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1"/>
          <p:cNvSpPr txBox="1">
            <a:spLocks noGrp="1"/>
          </p:cNvSpPr>
          <p:nvPr>
            <p:ph type="ctrTitle"/>
          </p:nvPr>
        </p:nvSpPr>
        <p:spPr>
          <a:xfrm>
            <a:off x="311708" y="2886950"/>
            <a:ext cx="8520600" cy="1151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0" name="Google Shape;10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6255" y="1441239"/>
            <a:ext cx="1631490" cy="783122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1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Title and Content - Single Column">
    <p:bg>
      <p:bgPr>
        <a:solidFill>
          <a:schemeClr val="lt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"/>
          <p:cNvSpPr/>
          <p:nvPr/>
        </p:nvSpPr>
        <p:spPr>
          <a:xfrm>
            <a:off x="0" y="0"/>
            <a:ext cx="9144000" cy="615900"/>
          </a:xfrm>
          <a:prstGeom prst="rect">
            <a:avLst/>
          </a:prstGeom>
          <a:solidFill>
            <a:srgbClr val="2428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0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73487" y="1081825"/>
            <a:ext cx="8403014" cy="336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12" title="LogoStacked.png"/>
          <p:cNvPicPr preferRelativeResize="0"/>
          <p:nvPr/>
        </p:nvPicPr>
        <p:blipFill rotWithShape="1">
          <a:blip r:embed="rId2">
            <a:alphaModFix/>
          </a:blip>
          <a:srcRect l="26142" r="30754" b="25149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242829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3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- Dark">
    <p:bg>
      <p:bgPr>
        <a:solidFill>
          <a:srgbClr val="242829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/>
          <p:nvPr/>
        </p:nvSpPr>
        <p:spPr>
          <a:xfrm>
            <a:off x="-9925" y="0"/>
            <a:ext cx="23199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07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4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4"/>
          <p:cNvSpPr txBox="1">
            <a:spLocks noGrp="1"/>
          </p:cNvSpPr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5" name="Google Shape;25;p14"/>
          <p:cNvSpPr txBox="1"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F0724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- Light">
    <p:bg>
      <p:bgPr>
        <a:solidFill>
          <a:srgbClr val="249C9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 txBox="1">
            <a:spLocks noGrp="1"/>
          </p:cNvSpPr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p15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" name="Google Shape;29;p15" title="LogoStacked.png"/>
          <p:cNvPicPr preferRelativeResize="0"/>
          <p:nvPr/>
        </p:nvPicPr>
        <p:blipFill rotWithShape="1">
          <a:blip r:embed="rId2">
            <a:alphaModFix/>
          </a:blip>
          <a:srcRect l="26142" r="30754" b="25149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BFBFB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Title and Content - Two Column">
    <p:bg>
      <p:bgPr>
        <a:solidFill>
          <a:srgbClr val="242829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/>
          <p:nvPr/>
        </p:nvSpPr>
        <p:spPr>
          <a:xfrm>
            <a:off x="3524161" y="-125"/>
            <a:ext cx="5630725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6"/>
          <p:cNvSpPr txBox="1">
            <a:spLocks noGrp="1"/>
          </p:cNvSpPr>
          <p:nvPr>
            <p:ph type="title"/>
          </p:nvPr>
        </p:nvSpPr>
        <p:spPr>
          <a:xfrm>
            <a:off x="-9925" y="2060490"/>
            <a:ext cx="3523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0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body" idx="1"/>
          </p:nvPr>
        </p:nvSpPr>
        <p:spPr>
          <a:xfrm>
            <a:off x="3831771" y="724075"/>
            <a:ext cx="4944729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/>
          <p:nvPr/>
        </p:nvSpPr>
        <p:spPr>
          <a:xfrm>
            <a:off x="-9925" y="0"/>
            <a:ext cx="35232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12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rgbClr val="242829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b7ca2831_0_266"/>
          <p:cNvSpPr txBox="1">
            <a:spLocks noGrp="1"/>
          </p:cNvSpPr>
          <p:nvPr>
            <p:ph type="ctrTitle"/>
          </p:nvPr>
        </p:nvSpPr>
        <p:spPr>
          <a:xfrm>
            <a:off x="311708" y="2886950"/>
            <a:ext cx="85206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42" name="Google Shape;42;g3f5b7ca2831_0_2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56255" y="1441239"/>
            <a:ext cx="1631490" cy="7831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f5b7ca2831_0_266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Title and Content - Single Column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5b7ca2831_0_270"/>
          <p:cNvSpPr/>
          <p:nvPr/>
        </p:nvSpPr>
        <p:spPr>
          <a:xfrm>
            <a:off x="0" y="0"/>
            <a:ext cx="9144000" cy="615900"/>
          </a:xfrm>
          <a:prstGeom prst="rect">
            <a:avLst/>
          </a:prstGeom>
          <a:solidFill>
            <a:srgbClr val="24282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3f5b7ca2831_0_270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0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7" name="Google Shape;47;g3f5b7ca2831_0_270"/>
          <p:cNvSpPr txBox="1">
            <a:spLocks noGrp="1"/>
          </p:cNvSpPr>
          <p:nvPr>
            <p:ph type="body" idx="1"/>
          </p:nvPr>
        </p:nvSpPr>
        <p:spPr>
          <a:xfrm>
            <a:off x="373487" y="1081825"/>
            <a:ext cx="8403000" cy="33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g3f5b7ca2831_0_270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f5b7ca2831_0_270" title="LogoStacked.png"/>
          <p:cNvPicPr preferRelativeResize="0"/>
          <p:nvPr/>
        </p:nvPicPr>
        <p:blipFill rotWithShape="1">
          <a:blip r:embed="rId2">
            <a:alphaModFix/>
          </a:blip>
          <a:srcRect l="26142" r="30754" b="2515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242829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5b7ca2831_0_276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- Dark">
    <p:bg>
      <p:bgPr>
        <a:solidFill>
          <a:srgbClr val="242829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5b7ca2831_0_278"/>
          <p:cNvSpPr/>
          <p:nvPr/>
        </p:nvSpPr>
        <p:spPr>
          <a:xfrm>
            <a:off x="-9925" y="0"/>
            <a:ext cx="23199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g3f5b7ca2831_0_27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407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f5b7ca2831_0_278"/>
          <p:cNvSpPr/>
          <p:nvPr/>
        </p:nvSpPr>
        <p:spPr>
          <a:xfrm>
            <a:off x="-7950" y="4951600"/>
            <a:ext cx="9152100" cy="1920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5b7ca2831_0_278"/>
          <p:cNvSpPr txBox="1">
            <a:spLocks noGrp="1"/>
          </p:cNvSpPr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" name="Google Shape;57;g3f5b7ca2831_0_278"/>
          <p:cNvSpPr txBox="1"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F07244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 - Light">
    <p:bg>
      <p:bgPr>
        <a:solidFill>
          <a:srgbClr val="249C91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b7ca2831_0_284"/>
          <p:cNvSpPr txBox="1">
            <a:spLocks noGrp="1"/>
          </p:cNvSpPr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g3f5b7ca2831_0_284"/>
          <p:cNvSpPr/>
          <p:nvPr/>
        </p:nvSpPr>
        <p:spPr>
          <a:xfrm>
            <a:off x="-7950" y="4753950"/>
            <a:ext cx="9152100" cy="3897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" name="Google Shape;61;g3f5b7ca2831_0_284" title="LogoStacked.png"/>
          <p:cNvPicPr preferRelativeResize="0"/>
          <p:nvPr/>
        </p:nvPicPr>
        <p:blipFill rotWithShape="1">
          <a:blip r:embed="rId2">
            <a:alphaModFix/>
          </a:blip>
          <a:srcRect l="26142" r="30754" b="25150"/>
          <a:stretch/>
        </p:blipFill>
        <p:spPr>
          <a:xfrm>
            <a:off x="8342825" y="4315025"/>
            <a:ext cx="763725" cy="636576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f5b7ca2831_0_284"/>
          <p:cNvSpPr txBox="1">
            <a:spLocks noGrp="1"/>
          </p:cNvSpPr>
          <p:nvPr>
            <p:ph type="subTitle" idx="1"/>
          </p:nvPr>
        </p:nvSpPr>
        <p:spPr>
          <a:xfrm>
            <a:off x="1143000" y="2701926"/>
            <a:ext cx="6858000" cy="12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BFBFBF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Title and Content - Two Column">
    <p:bg>
      <p:bgPr>
        <a:solidFill>
          <a:srgbClr val="242829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5b7ca2831_0_289"/>
          <p:cNvSpPr/>
          <p:nvPr/>
        </p:nvSpPr>
        <p:spPr>
          <a:xfrm>
            <a:off x="3524161" y="-125"/>
            <a:ext cx="56307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5b7ca2831_0_289"/>
          <p:cNvSpPr txBox="1">
            <a:spLocks noGrp="1"/>
          </p:cNvSpPr>
          <p:nvPr>
            <p:ph type="title"/>
          </p:nvPr>
        </p:nvSpPr>
        <p:spPr>
          <a:xfrm>
            <a:off x="-9925" y="2060490"/>
            <a:ext cx="3523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2000"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6" name="Google Shape;66;g3f5b7ca2831_0_289"/>
          <p:cNvSpPr txBox="1">
            <a:spLocks noGrp="1"/>
          </p:cNvSpPr>
          <p:nvPr>
            <p:ph type="body" idx="1"/>
          </p:nvPr>
        </p:nvSpPr>
        <p:spPr>
          <a:xfrm>
            <a:off x="3831771" y="724075"/>
            <a:ext cx="49446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rgbClr val="242829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7" name="Google Shape;67;g3f5b7ca2831_0_289"/>
          <p:cNvSpPr/>
          <p:nvPr/>
        </p:nvSpPr>
        <p:spPr>
          <a:xfrm>
            <a:off x="-9925" y="0"/>
            <a:ext cx="3523200" cy="861600"/>
          </a:xfrm>
          <a:prstGeom prst="rect">
            <a:avLst/>
          </a:prstGeom>
          <a:solidFill>
            <a:srgbClr val="249C9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8" name="Google Shape;68;g3f5b7ca2831_0_2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125" y="171000"/>
            <a:ext cx="1289345" cy="51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5b7ca2831_0_2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g3f5b7ca2831_0_2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"/>
          <p:cNvSpPr txBox="1">
            <a:spLocks noGrp="1"/>
          </p:cNvSpPr>
          <p:nvPr>
            <p:ph type="ctrTitle"/>
          </p:nvPr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Board financial overview</a:t>
            </a:r>
            <a:endParaRPr/>
          </a:p>
        </p:txBody>
      </p:sp>
      <p:sp>
        <p:nvSpPr>
          <p:cNvPr id="74" name="Google Shape;74;p1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249C91"/>
                </a:solidFill>
                <a:latin typeface="Raleway"/>
                <a:ea typeface="Raleway"/>
                <a:cs typeface="Raleway"/>
                <a:sym typeface="Raleway"/>
              </a:rPr>
              <a:t>OWASP Foundation, Inc.  |  July 2026</a:t>
            </a:r>
            <a:endParaRPr/>
          </a:p>
        </p:txBody>
      </p:sp>
      <p:pic>
        <p:nvPicPr>
          <p:cNvPr id="75" name="Google Shape;75;p1" descr="owasp_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68980" y="548640"/>
            <a:ext cx="2606039" cy="868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Financial snapshot as of July 31, 2026</a:t>
            </a:r>
            <a:endParaRPr/>
          </a:p>
        </p:txBody>
      </p:sp>
      <p:sp>
        <p:nvSpPr>
          <p:cNvPr id="81" name="Google Shape;81;p2"/>
          <p:cNvSpPr/>
          <p:nvPr/>
        </p:nvSpPr>
        <p:spPr>
          <a:xfrm>
            <a:off x="457200" y="1474470"/>
            <a:ext cx="1885950" cy="27432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457200" y="1474470"/>
            <a:ext cx="1885950" cy="73152"/>
          </a:xfrm>
          <a:prstGeom prst="rect">
            <a:avLst/>
          </a:prstGeom>
          <a:solidFill>
            <a:srgbClr val="F0724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 txBox="1"/>
          <p:nvPr/>
        </p:nvSpPr>
        <p:spPr>
          <a:xfrm>
            <a:off x="73152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F07245"/>
                </a:solidFill>
                <a:latin typeface="Raleway"/>
                <a:ea typeface="Raleway"/>
                <a:cs typeface="Raleway"/>
                <a:sym typeface="Raleway"/>
              </a:rPr>
              <a:t>$2.24M</a:t>
            </a:r>
            <a:endParaRPr/>
          </a:p>
        </p:txBody>
      </p:sp>
      <p:sp>
        <p:nvSpPr>
          <p:cNvPr id="84" name="Google Shape;84;p2"/>
          <p:cNvSpPr txBox="1"/>
          <p:nvPr/>
        </p:nvSpPr>
        <p:spPr>
          <a:xfrm>
            <a:off x="73152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Cash on hand (down $241K in July)</a:t>
            </a:r>
            <a:endParaRPr/>
          </a:p>
        </p:txBody>
      </p:sp>
      <p:sp>
        <p:nvSpPr>
          <p:cNvPr id="85" name="Google Shape;85;p2"/>
          <p:cNvSpPr/>
          <p:nvPr/>
        </p:nvSpPr>
        <p:spPr>
          <a:xfrm>
            <a:off x="2571750" y="1474470"/>
            <a:ext cx="1885950" cy="27432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257175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 txBox="1"/>
          <p:nvPr/>
        </p:nvSpPr>
        <p:spPr>
          <a:xfrm>
            <a:off x="284607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5.3</a:t>
            </a:r>
            <a:endParaRPr/>
          </a:p>
        </p:txBody>
      </p:sp>
      <p:sp>
        <p:nvSpPr>
          <p:cNvPr id="88" name="Google Shape;88;p2"/>
          <p:cNvSpPr txBox="1"/>
          <p:nvPr/>
        </p:nvSpPr>
        <p:spPr>
          <a:xfrm>
            <a:off x="284607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Months of cash on hand</a:t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4686300" y="1474470"/>
            <a:ext cx="1885950" cy="27432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468630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96062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5.65:1</a:t>
            </a:r>
            <a:endParaRPr/>
          </a:p>
        </p:txBody>
      </p:sp>
      <p:sp>
        <p:nvSpPr>
          <p:cNvPr id="92" name="Google Shape;92;p2"/>
          <p:cNvSpPr txBox="1"/>
          <p:nvPr/>
        </p:nvSpPr>
        <p:spPr>
          <a:xfrm>
            <a:off x="496062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Current ratio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6800850" y="1474470"/>
            <a:ext cx="1885950" cy="274320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/>
          <p:nvPr/>
        </p:nvSpPr>
        <p:spPr>
          <a:xfrm>
            <a:off x="6800850" y="1474470"/>
            <a:ext cx="1885950" cy="73152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075170" y="1840230"/>
            <a:ext cx="1337310" cy="74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i="0" u="none" strike="noStrike" cap="none">
                <a:solidFill>
                  <a:srgbClr val="418477"/>
                </a:solidFill>
                <a:latin typeface="Raleway"/>
                <a:ea typeface="Raleway"/>
                <a:cs typeface="Raleway"/>
                <a:sym typeface="Raleway"/>
              </a:rPr>
              <a:t>$3.29M</a:t>
            </a:r>
            <a:endParaRPr/>
          </a:p>
        </p:txBody>
      </p:sp>
      <p:sp>
        <p:nvSpPr>
          <p:cNvPr id="96" name="Google Shape;96;p2"/>
          <p:cNvSpPr txBox="1"/>
          <p:nvPr/>
        </p:nvSpPr>
        <p:spPr>
          <a:xfrm>
            <a:off x="7075170" y="2769870"/>
            <a:ext cx="1337310" cy="1082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Total net assets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82A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3" descr="LogoIcon (white)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 txBox="1"/>
          <p:nvPr/>
        </p:nvSpPr>
        <p:spPr>
          <a:xfrm>
            <a:off x="457200" y="74295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YEAR-TO-DATE RESULTS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1291590"/>
            <a:ext cx="82296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 b="1" i="0" u="none" strike="noStrike" cap="none" dirty="0">
                <a:solidFill>
                  <a:srgbClr val="F07245"/>
                </a:solidFill>
                <a:latin typeface="Raleway"/>
                <a:ea typeface="Raleway"/>
                <a:cs typeface="Raleway"/>
                <a:sym typeface="Raleway"/>
              </a:rPr>
              <a:t>$790K</a:t>
            </a:r>
            <a:endParaRPr dirty="0"/>
          </a:p>
        </p:txBody>
      </p:sp>
      <p:sp>
        <p:nvSpPr>
          <p:cNvPr id="104" name="Google Shape;104;p3"/>
          <p:cNvSpPr txBox="1"/>
          <p:nvPr/>
        </p:nvSpPr>
        <p:spPr>
          <a:xfrm>
            <a:off x="457200" y="330327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Net income, year to date</a:t>
            </a:r>
            <a:endParaRPr/>
          </a:p>
        </p:txBody>
      </p:sp>
      <p:sp>
        <p:nvSpPr>
          <p:cNvPr id="105" name="Google Shape;105;p3"/>
          <p:cNvSpPr txBox="1"/>
          <p:nvPr/>
        </p:nvSpPr>
        <p:spPr>
          <a:xfrm>
            <a:off x="1371600" y="3943350"/>
            <a:ext cx="64008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Revenue of $3.77M came in 29.9% over the YTD budget, while expenses of $2.99M ran 5.8% over budget, driven by unbudgeted EU tax compliance costs.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4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metrics: year to date vs budget and prior year</a:t>
            </a:r>
            <a:endParaRPr/>
          </a:p>
        </p:txBody>
      </p:sp>
      <p:graphicFrame>
        <p:nvGraphicFramePr>
          <p:cNvPr id="111" name="Google Shape;111;p4"/>
          <p:cNvGraphicFramePr/>
          <p:nvPr/>
        </p:nvGraphicFramePr>
        <p:xfrm>
          <a:off x="457200" y="1188720"/>
          <a:ext cx="8229600" cy="2743200"/>
        </p:xfrm>
        <a:graphic>
          <a:graphicData uri="http://schemas.openxmlformats.org/drawingml/2006/table">
            <a:tbl>
              <a:tblPr firstRow="1" bandRow="1">
                <a:noFill/>
                <a:tableStyleId>{BBC5121A-0F14-4823-B5EB-14E5B51F3253}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Metric</a:t>
                      </a:r>
                      <a:endParaRPr/>
                    </a:p>
                  </a:txBody>
                  <a:tcPr marL="109725" marR="109725" marT="73150" marB="73150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2026 YTD</a:t>
                      </a:r>
                      <a:endParaRPr/>
                    </a:p>
                  </a:txBody>
                  <a:tcPr marL="109725" marR="109725" marT="73150" marB="73150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YTD budget</a:t>
                      </a:r>
                      <a:endParaRPr/>
                    </a:p>
                  </a:txBody>
                  <a:tcPr marL="109725" marR="109725" marT="73150" marB="73150">
                    <a:solidFill>
                      <a:srgbClr val="249C9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u="none" strike="noStrike" cap="non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Prior-year YTD</a:t>
                      </a:r>
                      <a:endParaRPr/>
                    </a:p>
                  </a:txBody>
                  <a:tcPr marL="109725" marR="109725" marT="73150" marB="73150">
                    <a:solidFill>
                      <a:srgbClr val="249C9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revenue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$3,774,802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$2,907,024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$2,954,697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expenses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$2,986,695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$2,822,225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$2,553,113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Net income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$788,191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$91,799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$409,341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Months of cash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5.3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EF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ratio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5.65:1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94949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</a:t>
                      </a:r>
                      <a:endParaRPr/>
                    </a:p>
                  </a:txBody>
                  <a:tcPr marL="109725" marR="109725" marT="54875" marB="54875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Cash on hand: trailing 12 months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CASH ON HAND ($ MILLIONS)</a:t>
            </a:r>
            <a:endParaRPr/>
          </a:p>
        </p:txBody>
      </p:sp>
      <p:graphicFrame>
        <p:nvGraphicFramePr>
          <p:cNvPr id="118" name="Google Shape;118;p5"/>
          <p:cNvGraphicFramePr/>
          <p:nvPr/>
        </p:nvGraphicFramePr>
        <p:xfrm>
          <a:off x="457200" y="1554480"/>
          <a:ext cx="8229600" cy="1805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9" name="Google Shape;119;p5"/>
          <p:cNvSpPr/>
          <p:nvPr/>
        </p:nvSpPr>
        <p:spPr>
          <a:xfrm>
            <a:off x="457200" y="3497580"/>
            <a:ext cx="8229600" cy="100584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85800" y="37261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Cash pulled back to $2.24M in July after EU tax payments and event vendor settlements, down from June's 12-month high of $2.48M; the Foundation still holds 5.3 months of cash on hand.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Revenue mix, year to date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457200" y="1188720"/>
            <a:ext cx="4191000" cy="16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$ THOUSANDS | TOTAL $3.77M</a:t>
            </a:r>
            <a:endParaRPr sz="1100" b="1">
              <a:solidFill>
                <a:srgbClr val="41847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Picture 132" descr="revenue_pie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9475"/>
            <a:ext cx="4948800" cy="3099000"/>
          </a:xfrm>
          <a:prstGeom prst="rect">
            <a:avLst/>
          </a:prstGeom>
        </p:spPr>
      </p:pic>
      <p:sp>
        <p:nvSpPr>
          <p:cNvPr id="128" name="Google Shape;128;p6"/>
          <p:cNvSpPr/>
          <p:nvPr/>
        </p:nvSpPr>
        <p:spPr>
          <a:xfrm>
            <a:off x="5181600" y="1554480"/>
            <a:ext cx="3505200" cy="2949000"/>
          </a:xfrm>
          <a:prstGeom prst="roundRect">
            <a:avLst>
              <a:gd name="adj" fmla="val 5167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"/>
          <p:cNvSpPr txBox="1"/>
          <p:nvPr/>
        </p:nvSpPr>
        <p:spPr>
          <a:xfrm>
            <a:off x="5410200" y="1744980"/>
            <a:ext cx="3048000" cy="256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 sz="1000" b="1">
              <a:solidFill>
                <a:srgbClr val="F0724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249C91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51%</a:t>
            </a:r>
            <a:endParaRPr sz="3200" b="0">
              <a:solidFill>
                <a:srgbClr val="249C91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of all revenue is driven by Sponsorships</a:t>
            </a:r>
            <a:endParaRPr sz="1100" b="1">
              <a:solidFill>
                <a:srgbClr val="26282A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200" b="0">
                <a:solidFill>
                  <a:srgbClr val="418477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81%</a:t>
            </a:r>
            <a:endParaRPr sz="3200" b="0">
              <a:solidFill>
                <a:srgbClr val="418477"/>
              </a:solidFill>
              <a:latin typeface="Raleway ExtraBold"/>
              <a:ea typeface="Raleway ExtraBold"/>
              <a:cs typeface="Raleway ExtraBold"/>
              <a:sym typeface="Raleway ExtraBold"/>
            </a:endParaRPr>
          </a:p>
          <a:p>
            <a:pPr marL="0" lvl="0" indent="0" algn="l" rtl="0">
              <a:spcBef>
                <a:spcPts val="150"/>
              </a:spcBef>
              <a:spcAft>
                <a:spcPts val="0"/>
              </a:spcAft>
              <a:buNone/>
            </a:pPr>
            <a:r>
              <a:rPr lang="en-US" sz="1100" b="1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comes from Conference income (sponsorships, registrations, training)</a:t>
            </a:r>
            <a:endParaRPr sz="1100" b="1">
              <a:solidFill>
                <a:srgbClr val="26282A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30" name="Google Shape;130;p6"/>
          <p:cNvSpPr txBox="1"/>
          <p:nvPr/>
        </p:nvSpPr>
        <p:spPr>
          <a:xfrm>
            <a:off x="523875" y="3190875"/>
            <a:ext cx="5715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1143000" y="3762375"/>
            <a:ext cx="666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2381250" y="2619375"/>
            <a:ext cx="7620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367498" y="1"/>
            <a:ext cx="8403013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-US" sz="28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Expense mix, year to date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457200" y="118872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418477"/>
                </a:solidFill>
                <a:latin typeface="Montserrat"/>
                <a:ea typeface="Montserrat"/>
                <a:cs typeface="Montserrat"/>
                <a:sym typeface="Montserrat"/>
              </a:rPr>
              <a:t>$ THOUSANDS  |  TOTAL $2.99M</a:t>
            </a:r>
            <a:endParaRPr/>
          </a:p>
        </p:txBody>
      </p:sp>
      <p:graphicFrame>
        <p:nvGraphicFramePr>
          <p:cNvPr id="139" name="Google Shape;139;p7"/>
          <p:cNvGraphicFramePr/>
          <p:nvPr/>
        </p:nvGraphicFramePr>
        <p:xfrm>
          <a:off x="457200" y="1554480"/>
          <a:ext cx="8229600" cy="18059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0" name="Google Shape;140;p7"/>
          <p:cNvSpPr/>
          <p:nvPr/>
        </p:nvSpPr>
        <p:spPr>
          <a:xfrm>
            <a:off x="457200" y="3497580"/>
            <a:ext cx="8229600" cy="1005840"/>
          </a:xfrm>
          <a:prstGeom prst="roundRect">
            <a:avLst>
              <a:gd name="adj" fmla="val 6000"/>
            </a:avLst>
          </a:prstGeom>
          <a:solidFill>
            <a:srgbClr val="EFF0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685800" y="372618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07245"/>
                </a:solidFill>
                <a:latin typeface="Montserrat"/>
                <a:ea typeface="Montserrat"/>
                <a:cs typeface="Montserrat"/>
                <a:sym typeface="Montserrat"/>
              </a:rPr>
              <a:t>KEY TAKEAWAY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rgbClr val="26282A"/>
                </a:solidFill>
                <a:latin typeface="Raleway"/>
                <a:ea typeface="Raleway"/>
                <a:cs typeface="Raleway"/>
                <a:sym typeface="Raleway"/>
              </a:rPr>
              <a:t>Conference costs (49%) and personnel (22%) account for roughly seventy percent of spend — both tied directly to the mission and events calendar.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8" descr="LogoIc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0040" y="27432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8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41847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502920" y="11887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WHAT THIS MEANS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502920" y="1691640"/>
            <a:ext cx="265176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Board takeaways</a:t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4105875" y="589395"/>
            <a:ext cx="4480500" cy="4542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74320" marR="0" lvl="0" indent="-2743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Net income of $0.79M year to date</a:t>
            </a:r>
            <a:r>
              <a:rPr lang="en-US" sz="1800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 dirty="0">
              <a:solidFill>
                <a:srgbClr val="49494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94949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74320" marR="0" lvl="0" indent="-27432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Revenue of $3.77M is 29.9% over budget, led by sponsorships and training.</a:t>
            </a:r>
            <a:endParaRPr dirty="0"/>
          </a:p>
          <a:p>
            <a:pPr marL="274320" marR="0" lvl="0" indent="-27432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Expenses of $2.99M ran 5.8% over budget on unbudgeted EU tax compliance costs.</a:t>
            </a:r>
            <a:endParaRPr dirty="0"/>
          </a:p>
          <a:p>
            <a:pPr marL="274320" marR="0" lvl="0" indent="-27432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Strong liquidity: 5.3 months of cash and a 5.65:1 current ratio.</a:t>
            </a:r>
            <a:endParaRPr dirty="0"/>
          </a:p>
          <a:p>
            <a:pPr marL="274320" marR="0" lvl="0" indent="-27432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rgbClr val="418477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Actively addressing $447K</a:t>
            </a:r>
            <a:r>
              <a:rPr lang="en-US" sz="1800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800" b="0" i="0" u="none" strike="noStrike" cap="none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receivables over 90 days</a:t>
            </a:r>
            <a:r>
              <a:rPr lang="en-US" sz="1800" dirty="0">
                <a:solidFill>
                  <a:srgbClr val="494949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 txBox="1">
            <a:spLocks noGrp="1"/>
          </p:cNvSpPr>
          <p:nvPr>
            <p:ph type="title"/>
          </p:nvPr>
        </p:nvSpPr>
        <p:spPr>
          <a:xfrm>
            <a:off x="311700" y="1751226"/>
            <a:ext cx="8520600" cy="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200" b="1" i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Thank you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685800" y="3589020"/>
            <a:ext cx="77724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Prepared by The Charity CFO  |  July 2026</a:t>
            </a:r>
            <a:endParaRPr/>
          </a:p>
        </p:txBody>
      </p:sp>
      <p:pic>
        <p:nvPicPr>
          <p:cNvPr id="157" name="Google Shape;157;p9" descr="owasp_logo_da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06140" y="548640"/>
            <a:ext cx="2331720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348</Words>
  <Application>Microsoft Macintosh PowerPoint</Application>
  <PresentationFormat>On-screen Show (16:9)</PresentationFormat>
  <Paragraphs>65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Montserrat</vt:lpstr>
      <vt:lpstr>Raleway ExtraBold</vt:lpstr>
      <vt:lpstr>Arial</vt:lpstr>
      <vt:lpstr>Raleway</vt:lpstr>
      <vt:lpstr>Simple Light</vt:lpstr>
      <vt:lpstr>Simple Light</vt:lpstr>
      <vt:lpstr>Board financial overview</vt:lpstr>
      <vt:lpstr>Financial snapshot as of July 31, 2026</vt:lpstr>
      <vt:lpstr>PowerPoint Presentation</vt:lpstr>
      <vt:lpstr>Key metrics: year to date vs budget and prior year</vt:lpstr>
      <vt:lpstr>Cash on hand: trailing 12 months</vt:lpstr>
      <vt:lpstr>Revenue mix, year to date</vt:lpstr>
      <vt:lpstr>Expense mix, year to date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Chris Barbeau</cp:lastModifiedBy>
  <cp:revision>1</cp:revision>
  <dcterms:modified xsi:type="dcterms:W3CDTF">2026-08-23T13:04:20Z</dcterms:modified>
</cp:coreProperties>
</file>
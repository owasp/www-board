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Raleway ExtraBold"/>
      <p:bold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gYaQY4e7kkqJWIC/mcp1HxDQ6k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21AD48-5860-48AA-B115-FF37914186E7}">
  <a:tblStyle styleId="{9821AD48-5860-48AA-B115-FF37914186E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DFD"/>
          </a:solidFill>
        </a:fill>
      </a:tcStyle>
    </a:wholeTbl>
    <a:band1H>
      <a:tcTxStyle b="off" i="off"/>
      <a:tcStyle>
        <a:fill>
          <a:solidFill>
            <a:srgbClr val="CDD8FB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8FB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ExtraBold-bold.fntdata"/><Relationship Id="rId22" Type="http://schemas.openxmlformats.org/officeDocument/2006/relationships/font" Target="fonts/Montserrat-regular.fntdata"/><Relationship Id="rId21" Type="http://schemas.openxmlformats.org/officeDocument/2006/relationships/font" Target="fonts/RalewayExtraBold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Montserrat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Cash on hand</c:v>
                </c:pt>
              </c:strCache>
            </c:strRef>
          </c:tx>
          <c:spPr>
            <a:solidFill>
              <a:srgbClr val="418477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418477"/>
              </a:solidFill>
            </c:spPr>
            <c:extLst>
              <c:ext xmlns:c16="http://schemas.microsoft.com/office/drawing/2014/chart" uri="{C3380CC4-5D6E-409C-BE32-E72D297353CC}">
                <c16:uniqueId val="{00000001-08A3-6948-8AD5-D3EA9949E7AA}"/>
              </c:ext>
            </c:extLst>
          </c:dPt>
          <c:dPt>
            <c:idx val="1"/>
            <c:invertIfNegative val="1"/>
            <c:bubble3D val="0"/>
            <c:spPr>
              <a:solidFill>
                <a:srgbClr val="418477"/>
              </a:solidFill>
            </c:spPr>
            <c:extLst>
              <c:ext xmlns:c16="http://schemas.microsoft.com/office/drawing/2014/chart" uri="{C3380CC4-5D6E-409C-BE32-E72D297353CC}">
                <c16:uniqueId val="{00000003-08A3-6948-8AD5-D3EA9949E7AA}"/>
              </c:ext>
            </c:extLst>
          </c:dPt>
          <c:dPt>
            <c:idx val="2"/>
            <c:invertIfNegative val="1"/>
            <c:bubble3D val="0"/>
            <c:spPr>
              <a:solidFill>
                <a:srgbClr val="418477"/>
              </a:solidFill>
            </c:spPr>
            <c:extLst>
              <c:ext xmlns:c16="http://schemas.microsoft.com/office/drawing/2014/chart" uri="{C3380CC4-5D6E-409C-BE32-E72D297353CC}">
                <c16:uniqueId val="{00000005-08A3-6948-8AD5-D3EA9949E7AA}"/>
              </c:ext>
            </c:extLst>
          </c:dPt>
          <c:dPt>
            <c:idx val="3"/>
            <c:invertIfNegative val="1"/>
            <c:bubble3D val="0"/>
            <c:spPr>
              <a:solidFill>
                <a:srgbClr val="418477"/>
              </a:solidFill>
            </c:spPr>
            <c:extLst>
              <c:ext xmlns:c16="http://schemas.microsoft.com/office/drawing/2014/chart" uri="{C3380CC4-5D6E-409C-BE32-E72D297353CC}">
                <c16:uniqueId val="{00000007-08A3-6948-8AD5-D3EA9949E7AA}"/>
              </c:ext>
            </c:extLst>
          </c:dPt>
          <c:dPt>
            <c:idx val="4"/>
            <c:invertIfNegative val="1"/>
            <c:bubble3D val="0"/>
            <c:spPr>
              <a:solidFill>
                <a:srgbClr val="418477"/>
              </a:solidFill>
            </c:spPr>
            <c:extLst>
              <c:ext xmlns:c16="http://schemas.microsoft.com/office/drawing/2014/chart" uri="{C3380CC4-5D6E-409C-BE32-E72D297353CC}">
                <c16:uniqueId val="{00000009-08A3-6948-8AD5-D3EA9949E7AA}"/>
              </c:ext>
            </c:extLst>
          </c:dPt>
          <c:dPt>
            <c:idx val="5"/>
            <c:invertIfNegative val="1"/>
            <c:bubble3D val="0"/>
            <c:spPr>
              <a:solidFill>
                <a:srgbClr val="418477"/>
              </a:solidFill>
            </c:spPr>
            <c:extLst>
              <c:ext xmlns:c16="http://schemas.microsoft.com/office/drawing/2014/chart" uri="{C3380CC4-5D6E-409C-BE32-E72D297353CC}">
                <c16:uniqueId val="{0000000B-08A3-6948-8AD5-D3EA9949E7AA}"/>
              </c:ext>
            </c:extLst>
          </c:dPt>
          <c:dPt>
            <c:idx val="6"/>
            <c:invertIfNegative val="1"/>
            <c:bubble3D val="0"/>
            <c:spPr>
              <a:solidFill>
                <a:srgbClr val="418477"/>
              </a:solidFill>
            </c:spPr>
            <c:extLst>
              <c:ext xmlns:c16="http://schemas.microsoft.com/office/drawing/2014/chart" uri="{C3380CC4-5D6E-409C-BE32-E72D297353CC}">
                <c16:uniqueId val="{0000000D-08A3-6948-8AD5-D3EA9949E7AA}"/>
              </c:ext>
            </c:extLst>
          </c:dPt>
          <c:dPt>
            <c:idx val="7"/>
            <c:invertIfNegative val="1"/>
            <c:bubble3D val="0"/>
            <c:spPr>
              <a:solidFill>
                <a:srgbClr val="418477"/>
              </a:solidFill>
            </c:spPr>
            <c:extLst>
              <c:ext xmlns:c16="http://schemas.microsoft.com/office/drawing/2014/chart" uri="{C3380CC4-5D6E-409C-BE32-E72D297353CC}">
                <c16:uniqueId val="{0000000F-08A3-6948-8AD5-D3EA9949E7AA}"/>
              </c:ext>
            </c:extLst>
          </c:dPt>
          <c:dPt>
            <c:idx val="8"/>
            <c:invertIfNegative val="1"/>
            <c:bubble3D val="0"/>
            <c:spPr>
              <a:solidFill>
                <a:srgbClr val="418477"/>
              </a:solidFill>
            </c:spPr>
            <c:extLst>
              <c:ext xmlns:c16="http://schemas.microsoft.com/office/drawing/2014/chart" uri="{C3380CC4-5D6E-409C-BE32-E72D297353CC}">
                <c16:uniqueId val="{00000011-08A3-6948-8AD5-D3EA9949E7AA}"/>
              </c:ext>
            </c:extLst>
          </c:dPt>
          <c:dPt>
            <c:idx val="9"/>
            <c:invertIfNegative val="1"/>
            <c:bubble3D val="0"/>
            <c:spPr>
              <a:solidFill>
                <a:srgbClr val="418477"/>
              </a:solidFill>
            </c:spPr>
            <c:extLst>
              <c:ext xmlns:c16="http://schemas.microsoft.com/office/drawing/2014/chart" uri="{C3380CC4-5D6E-409C-BE32-E72D297353CC}">
                <c16:uniqueId val="{00000013-08A3-6948-8AD5-D3EA9949E7AA}"/>
              </c:ext>
            </c:extLst>
          </c:dPt>
          <c:dPt>
            <c:idx val="10"/>
            <c:invertIfNegative val="1"/>
            <c:bubble3D val="0"/>
            <c:spPr>
              <a:solidFill>
                <a:srgbClr val="418477"/>
              </a:solidFill>
            </c:spPr>
            <c:extLst>
              <c:ext xmlns:c16="http://schemas.microsoft.com/office/drawing/2014/chart" uri="{C3380CC4-5D6E-409C-BE32-E72D297353CC}">
                <c16:uniqueId val="{00000015-08A3-6948-8AD5-D3EA9949E7AA}"/>
              </c:ext>
            </c:extLst>
          </c:dPt>
          <c:dPt>
            <c:idx val="11"/>
            <c:invertIfNegative val="1"/>
            <c:bubble3D val="0"/>
            <c:spPr>
              <a:solidFill>
                <a:srgbClr val="F07245"/>
              </a:solidFill>
            </c:spPr>
            <c:extLst>
              <c:ext xmlns:c16="http://schemas.microsoft.com/office/drawing/2014/chart" uri="{C3380CC4-5D6E-409C-BE32-E72D297353CC}">
                <c16:uniqueId val="{00000017-08A3-6948-8AD5-D3EA9949E7A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26282A"/>
                    </a:solidFill>
                    <a:latin typeface="Montserrat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1.89</c:v>
                </c:pt>
                <c:pt idx="1">
                  <c:v>1.95</c:v>
                </c:pt>
                <c:pt idx="2">
                  <c:v>1.75</c:v>
                </c:pt>
                <c:pt idx="3">
                  <c:v>1.52</c:v>
                </c:pt>
                <c:pt idx="4">
                  <c:v>1.5</c:v>
                </c:pt>
                <c:pt idx="5">
                  <c:v>1.76</c:v>
                </c:pt>
                <c:pt idx="6">
                  <c:v>1.99</c:v>
                </c:pt>
                <c:pt idx="7">
                  <c:v>2.16</c:v>
                </c:pt>
                <c:pt idx="8">
                  <c:v>2.35</c:v>
                </c:pt>
                <c:pt idx="9">
                  <c:v>2.48</c:v>
                </c:pt>
                <c:pt idx="10">
                  <c:v>2.2400000000000002</c:v>
                </c:pt>
                <c:pt idx="11">
                  <c:v>1.9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8-08A3-6948-8AD5-D3EA9949E7A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494949"/>
                </a:solidFill>
                <a:latin typeface="Montserrat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08080"/>
                </a:solidFill>
                <a:latin typeface="Montserrat"/>
              </a:defRPr>
            </a:pPr>
            <a:endParaRPr lang="en-US"/>
          </a:p>
        </c:txPr>
        <c:crossAx val="-2068027336"/>
        <c:crosses val="autoZero"/>
        <c:crossBetween val="between"/>
        <c:majorUnit val="1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Expenses</c:v>
                </c:pt>
              </c:strCache>
            </c:strRef>
          </c:tx>
          <c:spPr>
            <a:solidFill>
              <a:srgbClr val="418477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F07245"/>
              </a:solidFill>
            </c:spPr>
            <c:extLst>
              <c:ext xmlns:c16="http://schemas.microsoft.com/office/drawing/2014/chart" uri="{C3380CC4-5D6E-409C-BE32-E72D297353CC}">
                <c16:uniqueId val="{00000001-59E4-B041-82CD-63B45E08BE32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59E4-B041-82CD-63B45E08BE32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59E4-B041-82CD-63B45E08BE32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59E4-B041-82CD-63B45E08BE32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9-59E4-B041-82CD-63B45E08BE32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B-59E4-B041-82CD-63B45E08BE32}"/>
              </c:ext>
            </c:extLst>
          </c:dPt>
          <c:dPt>
            <c:idx val="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D-59E4-B041-82CD-63B45E08BE32}"/>
              </c:ext>
            </c:extLst>
          </c:dPt>
          <c:dPt>
            <c:idx val="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F-59E4-B041-82CD-63B45E08BE3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26282A"/>
                    </a:solidFill>
                    <a:latin typeface="Montserrat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Conference</c:v>
                </c:pt>
                <c:pt idx="1">
                  <c:v>Personnel</c:v>
                </c:pt>
                <c:pt idx="2">
                  <c:v>Gen. &amp; admin</c:v>
                </c:pt>
                <c:pt idx="3">
                  <c:v>Projects</c:v>
                </c:pt>
                <c:pt idx="4">
                  <c:v>Local chapter</c:v>
                </c:pt>
                <c:pt idx="5">
                  <c:v>Professional</c:v>
                </c:pt>
                <c:pt idx="6">
                  <c:v>Outreach</c:v>
                </c:pt>
                <c:pt idx="7">
                  <c:v>Other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1512</c:v>
                </c:pt>
                <c:pt idx="1">
                  <c:v>750</c:v>
                </c:pt>
                <c:pt idx="2">
                  <c:v>554</c:v>
                </c:pt>
                <c:pt idx="3">
                  <c:v>278</c:v>
                </c:pt>
                <c:pt idx="4">
                  <c:v>67</c:v>
                </c:pt>
                <c:pt idx="5">
                  <c:v>115</c:v>
                </c:pt>
                <c:pt idx="6">
                  <c:v>30</c:v>
                </c:pt>
                <c:pt idx="7">
                  <c:v>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0-59E4-B041-82CD-63B45E08BE3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494949"/>
                </a:solidFill>
                <a:latin typeface="Montserrat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08080"/>
                </a:solidFill>
                <a:latin typeface="Montserrat"/>
              </a:defRPr>
            </a:pPr>
            <a:endParaRPr lang="en-US"/>
          </a:p>
        </c:txPr>
        <c:crossAx val="-2068027336"/>
        <c:crosses val="autoZero"/>
        <c:crossBetween val="between"/>
        <c:majorUnit val="50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" name="Google Shape;7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242829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1"/>
          <p:cNvSpPr txBox="1"/>
          <p:nvPr>
            <p:ph type="ctrTitle"/>
          </p:nvPr>
        </p:nvSpPr>
        <p:spPr>
          <a:xfrm>
            <a:off x="311708" y="2886950"/>
            <a:ext cx="8520600" cy="11516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1" sz="4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10" name="Google Shape;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56255" y="1441239"/>
            <a:ext cx="1631490" cy="78312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1"/>
          <p:cNvSpPr/>
          <p:nvPr/>
        </p:nvSpPr>
        <p:spPr>
          <a:xfrm>
            <a:off x="-7950" y="4753950"/>
            <a:ext cx="9152100" cy="389700"/>
          </a:xfrm>
          <a:prstGeom prst="rect">
            <a:avLst/>
          </a:prstGeom>
          <a:solidFill>
            <a:srgbClr val="249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Title and Content - Single Column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/>
          <p:nvPr/>
        </p:nvSpPr>
        <p:spPr>
          <a:xfrm>
            <a:off x="0" y="0"/>
            <a:ext cx="9144000" cy="615900"/>
          </a:xfrm>
          <a:prstGeom prst="rect">
            <a:avLst/>
          </a:prstGeom>
          <a:solidFill>
            <a:srgbClr val="2428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2"/>
          <p:cNvSpPr txBox="1"/>
          <p:nvPr>
            <p:ph type="title"/>
          </p:nvPr>
        </p:nvSpPr>
        <p:spPr>
          <a:xfrm>
            <a:off x="367498" y="1"/>
            <a:ext cx="8403013" cy="6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1" sz="2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12"/>
          <p:cNvSpPr txBox="1"/>
          <p:nvPr>
            <p:ph idx="1" type="body"/>
          </p:nvPr>
        </p:nvSpPr>
        <p:spPr>
          <a:xfrm>
            <a:off x="373487" y="1081825"/>
            <a:ext cx="8403014" cy="33613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rgbClr val="242829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2"/>
          <p:cNvSpPr/>
          <p:nvPr/>
        </p:nvSpPr>
        <p:spPr>
          <a:xfrm>
            <a:off x="-7950" y="4951600"/>
            <a:ext cx="9152100" cy="192000"/>
          </a:xfrm>
          <a:prstGeom prst="rect">
            <a:avLst/>
          </a:prstGeom>
          <a:solidFill>
            <a:srgbClr val="249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12" title="LogoStacked.png"/>
          <p:cNvPicPr preferRelativeResize="0"/>
          <p:nvPr/>
        </p:nvPicPr>
        <p:blipFill rotWithShape="1">
          <a:blip r:embed="rId2">
            <a:alphaModFix/>
          </a:blip>
          <a:srcRect b="25149" l="26142" r="30754" t="0"/>
          <a:stretch/>
        </p:blipFill>
        <p:spPr>
          <a:xfrm>
            <a:off x="8342825" y="4315025"/>
            <a:ext cx="763725" cy="636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242829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/>
          <p:nvPr/>
        </p:nvSpPr>
        <p:spPr>
          <a:xfrm>
            <a:off x="-7950" y="4951600"/>
            <a:ext cx="9152100" cy="192000"/>
          </a:xfrm>
          <a:prstGeom prst="rect">
            <a:avLst/>
          </a:prstGeom>
          <a:solidFill>
            <a:srgbClr val="249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 - Dark">
    <p:bg>
      <p:bgPr>
        <a:solidFill>
          <a:srgbClr val="242829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/>
          <p:nvPr/>
        </p:nvSpPr>
        <p:spPr>
          <a:xfrm>
            <a:off x="-9925" y="0"/>
            <a:ext cx="2319900" cy="861600"/>
          </a:xfrm>
          <a:prstGeom prst="rect">
            <a:avLst/>
          </a:prstGeom>
          <a:solidFill>
            <a:srgbClr val="249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075" y="171000"/>
            <a:ext cx="1289345" cy="5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4"/>
          <p:cNvSpPr/>
          <p:nvPr/>
        </p:nvSpPr>
        <p:spPr>
          <a:xfrm>
            <a:off x="-7950" y="4951600"/>
            <a:ext cx="9152100" cy="192000"/>
          </a:xfrm>
          <a:prstGeom prst="rect">
            <a:avLst/>
          </a:prstGeom>
          <a:solidFill>
            <a:srgbClr val="249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4"/>
          <p:cNvSpPr txBox="1"/>
          <p:nvPr>
            <p:ph type="title"/>
          </p:nvPr>
        </p:nvSpPr>
        <p:spPr>
          <a:xfrm>
            <a:off x="311700" y="1751226"/>
            <a:ext cx="8520600" cy="9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14"/>
          <p:cNvSpPr txBox="1"/>
          <p:nvPr>
            <p:ph idx="1" type="subTitle"/>
          </p:nvPr>
        </p:nvSpPr>
        <p:spPr>
          <a:xfrm>
            <a:off x="1143000" y="2701926"/>
            <a:ext cx="6858000" cy="12414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F07244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 - Light">
    <p:bg>
      <p:bgPr>
        <a:solidFill>
          <a:srgbClr val="249C9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5"/>
          <p:cNvSpPr txBox="1"/>
          <p:nvPr>
            <p:ph type="title"/>
          </p:nvPr>
        </p:nvSpPr>
        <p:spPr>
          <a:xfrm>
            <a:off x="311700" y="1751226"/>
            <a:ext cx="8520600" cy="9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" name="Google Shape;28;p15"/>
          <p:cNvSpPr/>
          <p:nvPr/>
        </p:nvSpPr>
        <p:spPr>
          <a:xfrm>
            <a:off x="-7950" y="4753950"/>
            <a:ext cx="9152100" cy="389700"/>
          </a:xfrm>
          <a:prstGeom prst="rect">
            <a:avLst/>
          </a:prstGeom>
          <a:solidFill>
            <a:srgbClr val="249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15" title="LogoStacked.png"/>
          <p:cNvPicPr preferRelativeResize="0"/>
          <p:nvPr/>
        </p:nvPicPr>
        <p:blipFill rotWithShape="1">
          <a:blip r:embed="rId2">
            <a:alphaModFix/>
          </a:blip>
          <a:srcRect b="25149" l="26142" r="30754" t="0"/>
          <a:stretch/>
        </p:blipFill>
        <p:spPr>
          <a:xfrm>
            <a:off x="8342825" y="4315025"/>
            <a:ext cx="763725" cy="636576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5"/>
          <p:cNvSpPr txBox="1"/>
          <p:nvPr>
            <p:ph idx="1" type="subTitle"/>
          </p:nvPr>
        </p:nvSpPr>
        <p:spPr>
          <a:xfrm>
            <a:off x="1143000" y="2701926"/>
            <a:ext cx="6858000" cy="12414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BFBFB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Title and Content - Two Column">
    <p:bg>
      <p:bgPr>
        <a:solidFill>
          <a:srgbClr val="242829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/>
          <p:nvPr/>
        </p:nvSpPr>
        <p:spPr>
          <a:xfrm>
            <a:off x="3524161" y="-125"/>
            <a:ext cx="5630725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6"/>
          <p:cNvSpPr txBox="1"/>
          <p:nvPr>
            <p:ph type="title"/>
          </p:nvPr>
        </p:nvSpPr>
        <p:spPr>
          <a:xfrm>
            <a:off x="-9925" y="2060490"/>
            <a:ext cx="3523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1" sz="2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" name="Google Shape;34;p16"/>
          <p:cNvSpPr txBox="1"/>
          <p:nvPr>
            <p:ph idx="1" type="body"/>
          </p:nvPr>
        </p:nvSpPr>
        <p:spPr>
          <a:xfrm>
            <a:off x="3831771" y="724075"/>
            <a:ext cx="4944729" cy="3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rgbClr val="242829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16"/>
          <p:cNvSpPr/>
          <p:nvPr/>
        </p:nvSpPr>
        <p:spPr>
          <a:xfrm>
            <a:off x="-9925" y="0"/>
            <a:ext cx="3523200" cy="861600"/>
          </a:xfrm>
          <a:prstGeom prst="rect">
            <a:avLst/>
          </a:prstGeom>
          <a:solidFill>
            <a:srgbClr val="249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0125" y="171000"/>
            <a:ext cx="1289345" cy="5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Title and Content - Single Column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f5b7ca2831_0_270"/>
          <p:cNvSpPr/>
          <p:nvPr/>
        </p:nvSpPr>
        <p:spPr>
          <a:xfrm>
            <a:off x="0" y="0"/>
            <a:ext cx="9144000" cy="615900"/>
          </a:xfrm>
          <a:prstGeom prst="rect">
            <a:avLst/>
          </a:prstGeom>
          <a:solidFill>
            <a:srgbClr val="2428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3f5b7ca2831_0_270"/>
          <p:cNvSpPr txBox="1"/>
          <p:nvPr>
            <p:ph type="title"/>
          </p:nvPr>
        </p:nvSpPr>
        <p:spPr>
          <a:xfrm>
            <a:off x="367498" y="1"/>
            <a:ext cx="84030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1" sz="2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g3f5b7ca2831_0_270"/>
          <p:cNvSpPr txBox="1"/>
          <p:nvPr>
            <p:ph idx="1" type="body"/>
          </p:nvPr>
        </p:nvSpPr>
        <p:spPr>
          <a:xfrm>
            <a:off x="373487" y="1081825"/>
            <a:ext cx="8403000" cy="3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rgbClr val="242829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g3f5b7ca2831_0_270"/>
          <p:cNvSpPr/>
          <p:nvPr/>
        </p:nvSpPr>
        <p:spPr>
          <a:xfrm>
            <a:off x="-7950" y="4951600"/>
            <a:ext cx="9152100" cy="192000"/>
          </a:xfrm>
          <a:prstGeom prst="rect">
            <a:avLst/>
          </a:prstGeom>
          <a:solidFill>
            <a:srgbClr val="249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" name="Google Shape;45;g3f5b7ca2831_0_270" title="LogoStacked.png"/>
          <p:cNvPicPr preferRelativeResize="0"/>
          <p:nvPr/>
        </p:nvPicPr>
        <p:blipFill rotWithShape="1">
          <a:blip r:embed="rId2">
            <a:alphaModFix/>
          </a:blip>
          <a:srcRect b="25150" l="26142" r="30754" t="0"/>
          <a:stretch/>
        </p:blipFill>
        <p:spPr>
          <a:xfrm>
            <a:off x="8342825" y="4315025"/>
            <a:ext cx="763725" cy="636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242829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f5b7ca2831_0_266"/>
          <p:cNvSpPr txBox="1"/>
          <p:nvPr>
            <p:ph type="ctrTitle"/>
          </p:nvPr>
        </p:nvSpPr>
        <p:spPr>
          <a:xfrm>
            <a:off x="311708" y="2886950"/>
            <a:ext cx="8520600" cy="11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1" sz="4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48" name="Google Shape;48;g3f5b7ca2831_0_2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56255" y="1441239"/>
            <a:ext cx="1631490" cy="78312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g3f5b7ca2831_0_266"/>
          <p:cNvSpPr/>
          <p:nvPr/>
        </p:nvSpPr>
        <p:spPr>
          <a:xfrm>
            <a:off x="-7950" y="4753950"/>
            <a:ext cx="9152100" cy="389700"/>
          </a:xfrm>
          <a:prstGeom prst="rect">
            <a:avLst/>
          </a:prstGeom>
          <a:solidFill>
            <a:srgbClr val="249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242829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5b7ca2831_0_276"/>
          <p:cNvSpPr/>
          <p:nvPr/>
        </p:nvSpPr>
        <p:spPr>
          <a:xfrm>
            <a:off x="-7950" y="4951600"/>
            <a:ext cx="9152100" cy="192000"/>
          </a:xfrm>
          <a:prstGeom prst="rect">
            <a:avLst/>
          </a:prstGeom>
          <a:solidFill>
            <a:srgbClr val="249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 - Dark">
    <p:bg>
      <p:bgPr>
        <a:solidFill>
          <a:srgbClr val="242829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5b7ca2831_0_278"/>
          <p:cNvSpPr/>
          <p:nvPr/>
        </p:nvSpPr>
        <p:spPr>
          <a:xfrm>
            <a:off x="-9925" y="0"/>
            <a:ext cx="2319900" cy="861600"/>
          </a:xfrm>
          <a:prstGeom prst="rect">
            <a:avLst/>
          </a:prstGeom>
          <a:solidFill>
            <a:srgbClr val="249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g3f5b7ca2831_0_2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075" y="171000"/>
            <a:ext cx="1289345" cy="5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g3f5b7ca2831_0_278"/>
          <p:cNvSpPr/>
          <p:nvPr/>
        </p:nvSpPr>
        <p:spPr>
          <a:xfrm>
            <a:off x="-7950" y="4951600"/>
            <a:ext cx="9152100" cy="192000"/>
          </a:xfrm>
          <a:prstGeom prst="rect">
            <a:avLst/>
          </a:prstGeom>
          <a:solidFill>
            <a:srgbClr val="249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f5b7ca2831_0_278"/>
          <p:cNvSpPr txBox="1"/>
          <p:nvPr>
            <p:ph type="title"/>
          </p:nvPr>
        </p:nvSpPr>
        <p:spPr>
          <a:xfrm>
            <a:off x="311700" y="1751226"/>
            <a:ext cx="8520600" cy="9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7" name="Google Shape;57;g3f5b7ca2831_0_278"/>
          <p:cNvSpPr txBox="1"/>
          <p:nvPr>
            <p:ph idx="1" type="subTitle"/>
          </p:nvPr>
        </p:nvSpPr>
        <p:spPr>
          <a:xfrm>
            <a:off x="1143000" y="2701926"/>
            <a:ext cx="68580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F07244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 - Light">
    <p:bg>
      <p:bgPr>
        <a:solidFill>
          <a:srgbClr val="249C9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5b7ca2831_0_284"/>
          <p:cNvSpPr txBox="1"/>
          <p:nvPr>
            <p:ph type="title"/>
          </p:nvPr>
        </p:nvSpPr>
        <p:spPr>
          <a:xfrm>
            <a:off x="311700" y="1751226"/>
            <a:ext cx="8520600" cy="9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g3f5b7ca2831_0_284"/>
          <p:cNvSpPr/>
          <p:nvPr/>
        </p:nvSpPr>
        <p:spPr>
          <a:xfrm>
            <a:off x="-7950" y="4753950"/>
            <a:ext cx="9152100" cy="389700"/>
          </a:xfrm>
          <a:prstGeom prst="rect">
            <a:avLst/>
          </a:prstGeom>
          <a:solidFill>
            <a:srgbClr val="249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g3f5b7ca2831_0_284" title="LogoStacked.png"/>
          <p:cNvPicPr preferRelativeResize="0"/>
          <p:nvPr/>
        </p:nvPicPr>
        <p:blipFill rotWithShape="1">
          <a:blip r:embed="rId2">
            <a:alphaModFix/>
          </a:blip>
          <a:srcRect b="25150" l="26142" r="30754" t="0"/>
          <a:stretch/>
        </p:blipFill>
        <p:spPr>
          <a:xfrm>
            <a:off x="8342825" y="4315025"/>
            <a:ext cx="763725" cy="63657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f5b7ca2831_0_284"/>
          <p:cNvSpPr txBox="1"/>
          <p:nvPr>
            <p:ph idx="1" type="subTitle"/>
          </p:nvPr>
        </p:nvSpPr>
        <p:spPr>
          <a:xfrm>
            <a:off x="1143000" y="2701926"/>
            <a:ext cx="68580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BFBFB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Title and Content - Two Column">
    <p:bg>
      <p:bgPr>
        <a:solidFill>
          <a:srgbClr val="242829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5b7ca2831_0_289"/>
          <p:cNvSpPr/>
          <p:nvPr/>
        </p:nvSpPr>
        <p:spPr>
          <a:xfrm>
            <a:off x="3524161" y="-125"/>
            <a:ext cx="56307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g3f5b7ca2831_0_289"/>
          <p:cNvSpPr txBox="1"/>
          <p:nvPr>
            <p:ph type="title"/>
          </p:nvPr>
        </p:nvSpPr>
        <p:spPr>
          <a:xfrm>
            <a:off x="-9925" y="2060490"/>
            <a:ext cx="3523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1" sz="2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6" name="Google Shape;66;g3f5b7ca2831_0_289"/>
          <p:cNvSpPr txBox="1"/>
          <p:nvPr>
            <p:ph idx="1" type="body"/>
          </p:nvPr>
        </p:nvSpPr>
        <p:spPr>
          <a:xfrm>
            <a:off x="3831771" y="724075"/>
            <a:ext cx="49446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rgbClr val="242829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g3f5b7ca2831_0_289"/>
          <p:cNvSpPr/>
          <p:nvPr/>
        </p:nvSpPr>
        <p:spPr>
          <a:xfrm>
            <a:off x="-9925" y="0"/>
            <a:ext cx="3523200" cy="861600"/>
          </a:xfrm>
          <a:prstGeom prst="rect">
            <a:avLst/>
          </a:prstGeom>
          <a:solidFill>
            <a:srgbClr val="249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g3f5b7ca2831_0_2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0125" y="171000"/>
            <a:ext cx="1289345" cy="5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f5b7ca2831_0_2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g3f5b7ca2831_0_2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2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"/>
          <p:cNvSpPr txBox="1"/>
          <p:nvPr>
            <p:ph type="ctrTitle"/>
          </p:nvPr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i="0" lang="en-US" sz="48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Board financial overview</a:t>
            </a:r>
            <a:endParaRPr/>
          </a:p>
        </p:txBody>
      </p:sp>
      <p:sp>
        <p:nvSpPr>
          <p:cNvPr id="74" name="Google Shape;74;p1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49C91"/>
                </a:solidFill>
                <a:latin typeface="Raleway"/>
                <a:ea typeface="Raleway"/>
                <a:cs typeface="Raleway"/>
                <a:sym typeface="Raleway"/>
              </a:rPr>
              <a:t>OWASP Foundation, Inc.  |  August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wasp_logo_dark.png" id="75" name="Google Shape;7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68980" y="548640"/>
            <a:ext cx="2606039" cy="868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/>
          <p:nvPr>
            <p:ph type="title"/>
          </p:nvPr>
        </p:nvSpPr>
        <p:spPr>
          <a:xfrm>
            <a:off x="367498" y="1"/>
            <a:ext cx="8403013" cy="6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66667"/>
              <a:buNone/>
            </a:pPr>
            <a:r>
              <a:rPr b="1" i="0" lang="en-US" sz="28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Financial snapshot as of August 31, 2026</a:t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457200" y="1474470"/>
            <a:ext cx="1885950" cy="2743200"/>
          </a:xfrm>
          <a:prstGeom prst="roundRect">
            <a:avLst>
              <a:gd fmla="val 6000" name="adj"/>
            </a:avLst>
          </a:prstGeom>
          <a:solidFill>
            <a:srgbClr val="EF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457200" y="1474470"/>
            <a:ext cx="1885950" cy="73152"/>
          </a:xfrm>
          <a:prstGeom prst="rect">
            <a:avLst/>
          </a:prstGeom>
          <a:solidFill>
            <a:srgbClr val="F072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"/>
          <p:cNvSpPr txBox="1"/>
          <p:nvPr/>
        </p:nvSpPr>
        <p:spPr>
          <a:xfrm>
            <a:off x="731520" y="1840230"/>
            <a:ext cx="1337310" cy="74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07245"/>
                </a:solidFill>
                <a:latin typeface="Raleway"/>
                <a:ea typeface="Raleway"/>
                <a:cs typeface="Raleway"/>
                <a:sym typeface="Raleway"/>
              </a:rPr>
              <a:t>$1.90M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731520" y="2769870"/>
            <a:ext cx="1337310" cy="108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94949"/>
                </a:solidFill>
                <a:latin typeface="Montserrat"/>
                <a:ea typeface="Montserrat"/>
                <a:cs typeface="Montserrat"/>
                <a:sym typeface="Montserrat"/>
              </a:rPr>
              <a:t>Cash on hand (down $340K in August)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2571750" y="1474470"/>
            <a:ext cx="1885950" cy="2743200"/>
          </a:xfrm>
          <a:prstGeom prst="roundRect">
            <a:avLst>
              <a:gd fmla="val 6000" name="adj"/>
            </a:avLst>
          </a:prstGeom>
          <a:solidFill>
            <a:srgbClr val="EF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2571750" y="1474470"/>
            <a:ext cx="1885950" cy="73152"/>
          </a:xfrm>
          <a:prstGeom prst="rect">
            <a:avLst/>
          </a:prstGeom>
          <a:solidFill>
            <a:srgbClr val="4184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"/>
          <p:cNvSpPr txBox="1"/>
          <p:nvPr/>
        </p:nvSpPr>
        <p:spPr>
          <a:xfrm>
            <a:off x="2846070" y="1840230"/>
            <a:ext cx="1337310" cy="74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418477"/>
                </a:solidFill>
                <a:latin typeface="Raleway"/>
                <a:ea typeface="Raleway"/>
                <a:cs typeface="Raleway"/>
                <a:sym typeface="Raleway"/>
              </a:rPr>
              <a:t>4.5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/>
          <p:cNvSpPr txBox="1"/>
          <p:nvPr/>
        </p:nvSpPr>
        <p:spPr>
          <a:xfrm>
            <a:off x="2846070" y="2769870"/>
            <a:ext cx="1337310" cy="108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94949"/>
                </a:solidFill>
                <a:latin typeface="Montserrat"/>
                <a:ea typeface="Montserrat"/>
                <a:cs typeface="Montserrat"/>
                <a:sym typeface="Montserrat"/>
              </a:rPr>
              <a:t>Months of cash on hand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4686300" y="1474470"/>
            <a:ext cx="1885950" cy="2743200"/>
          </a:xfrm>
          <a:prstGeom prst="roundRect">
            <a:avLst>
              <a:gd fmla="val 6000" name="adj"/>
            </a:avLst>
          </a:prstGeom>
          <a:solidFill>
            <a:srgbClr val="EF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4686300" y="1474470"/>
            <a:ext cx="1885950" cy="73152"/>
          </a:xfrm>
          <a:prstGeom prst="rect">
            <a:avLst/>
          </a:prstGeom>
          <a:solidFill>
            <a:srgbClr val="4184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4960620" y="1840230"/>
            <a:ext cx="1337310" cy="74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418477"/>
                </a:solidFill>
                <a:latin typeface="Raleway"/>
                <a:ea typeface="Raleway"/>
                <a:cs typeface="Raleway"/>
                <a:sym typeface="Raleway"/>
              </a:rPr>
              <a:t>16.81:1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4960620" y="2769870"/>
            <a:ext cx="1337310" cy="108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94949"/>
                </a:solidFill>
                <a:latin typeface="Montserrat"/>
                <a:ea typeface="Montserrat"/>
                <a:cs typeface="Montserrat"/>
                <a:sym typeface="Montserrat"/>
              </a:rPr>
              <a:t>Current ratio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6800850" y="1474470"/>
            <a:ext cx="1885950" cy="2743200"/>
          </a:xfrm>
          <a:prstGeom prst="roundRect">
            <a:avLst>
              <a:gd fmla="val 6000" name="adj"/>
            </a:avLst>
          </a:prstGeom>
          <a:solidFill>
            <a:srgbClr val="EF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6800850" y="1474470"/>
            <a:ext cx="1885950" cy="73152"/>
          </a:xfrm>
          <a:prstGeom prst="rect">
            <a:avLst/>
          </a:prstGeom>
          <a:solidFill>
            <a:srgbClr val="4184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7075170" y="1840230"/>
            <a:ext cx="1337310" cy="74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418477"/>
                </a:solidFill>
                <a:latin typeface="Raleway"/>
                <a:ea typeface="Raleway"/>
                <a:cs typeface="Raleway"/>
                <a:sym typeface="Raleway"/>
              </a:rPr>
              <a:t>$3.32M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7075170" y="2769870"/>
            <a:ext cx="1337310" cy="108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94949"/>
                </a:solidFill>
                <a:latin typeface="Montserrat"/>
                <a:ea typeface="Montserrat"/>
                <a:cs typeface="Montserrat"/>
                <a:sym typeface="Montserrat"/>
              </a:rPr>
              <a:t>Total net assets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282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Icon (white).png"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74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 txBox="1"/>
          <p:nvPr/>
        </p:nvSpPr>
        <p:spPr>
          <a:xfrm>
            <a:off x="457200" y="74295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07245"/>
                </a:solidFill>
                <a:latin typeface="Montserrat"/>
                <a:ea typeface="Montserrat"/>
                <a:cs typeface="Montserrat"/>
                <a:sym typeface="Montserrat"/>
              </a:rPr>
              <a:t>YEAR-TO-DATE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457200" y="1291590"/>
            <a:ext cx="8229600" cy="15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F07245"/>
                </a:solidFill>
                <a:latin typeface="Raleway"/>
                <a:ea typeface="Raleway"/>
                <a:cs typeface="Raleway"/>
                <a:sym typeface="Raleway"/>
              </a:rPr>
              <a:t>$824K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457200" y="330327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Net income, year to 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1371600" y="394335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Revenue of $4.15M came in 26.7% over the YTD budget, while expenses of $3.31M ran 6.9% over budget, driven by conference costs.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367498" y="1"/>
            <a:ext cx="8403013" cy="6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i="0"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Key metrics: year to date vs budget and prior year</a:t>
            </a:r>
            <a:endParaRPr/>
          </a:p>
        </p:txBody>
      </p:sp>
      <p:graphicFrame>
        <p:nvGraphicFramePr>
          <p:cNvPr id="111" name="Google Shape;111;p4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{9821AD48-5860-48AA-B115-FF37914186E7}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Metric</a:t>
                      </a:r>
                      <a:endParaRPr sz="1400" u="none" cap="none" strike="noStrike"/>
                    </a:p>
                  </a:txBody>
                  <a:tcPr marT="73150" marB="73150" marR="109725" marL="109725">
                    <a:solidFill>
                      <a:srgbClr val="249C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2026 YTD</a:t>
                      </a:r>
                      <a:endParaRPr sz="1400" u="none" cap="none" strike="noStrike"/>
                    </a:p>
                  </a:txBody>
                  <a:tcPr marT="73150" marB="73150" marR="109725" marL="109725">
                    <a:solidFill>
                      <a:srgbClr val="249C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YTD budget</a:t>
                      </a:r>
                      <a:endParaRPr sz="1400" u="none" cap="none" strike="noStrike"/>
                    </a:p>
                  </a:txBody>
                  <a:tcPr marT="73150" marB="73150" marR="109725" marL="109725">
                    <a:solidFill>
                      <a:srgbClr val="249C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Prior-year YTD</a:t>
                      </a:r>
                      <a:endParaRPr sz="1400" u="none" cap="none" strike="noStrike"/>
                    </a:p>
                  </a:txBody>
                  <a:tcPr marT="73150" marB="73150" marR="109725" marL="109725">
                    <a:solidFill>
                      <a:srgbClr val="249C9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Total revenue</a:t>
                      </a:r>
                      <a:endParaRPr sz="1400" u="none" cap="none" strike="noStrike"/>
                    </a:p>
                  </a:txBody>
                  <a:tcPr marT="54875" marB="54875" marR="109725" marL="109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$4,146,448</a:t>
                      </a:r>
                      <a:endParaRPr sz="1400" u="none" cap="none" strike="noStrike"/>
                    </a:p>
                  </a:txBody>
                  <a:tcPr marT="54875" marB="54875" marR="109725" marL="109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$3,271,382</a:t>
                      </a:r>
                      <a:endParaRPr sz="1400" u="none" cap="none" strike="noStrike"/>
                    </a:p>
                  </a:txBody>
                  <a:tcPr marT="54875" marB="54875" marR="109725" marL="109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$3,128,153</a:t>
                      </a:r>
                      <a:endParaRPr sz="1400" u="none" cap="none" strike="noStrike"/>
                    </a:p>
                  </a:txBody>
                  <a:tcPr marT="54875" marB="54875" marR="109725" marL="109725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Total expenses</a:t>
                      </a:r>
                      <a:endParaRPr sz="1400" u="none" cap="none" strike="noStrike"/>
                    </a:p>
                  </a:txBody>
                  <a:tcPr marT="54875" marB="54875" marR="109725" marL="109725">
                    <a:solidFill>
                      <a:srgbClr val="EFF0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$3,314,841</a:t>
                      </a:r>
                      <a:endParaRPr sz="1400" u="none" cap="none" strike="noStrike"/>
                    </a:p>
                  </a:txBody>
                  <a:tcPr marT="54875" marB="54875" marR="109725" marL="109725">
                    <a:solidFill>
                      <a:srgbClr val="EFF0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$3,101,168</a:t>
                      </a:r>
                      <a:endParaRPr sz="1400" u="none" cap="none" strike="noStrike"/>
                    </a:p>
                  </a:txBody>
                  <a:tcPr marT="54875" marB="54875" marR="109725" marL="109725">
                    <a:solidFill>
                      <a:srgbClr val="EFF0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$3,033,425</a:t>
                      </a:r>
                      <a:endParaRPr sz="1400" u="none" cap="none" strike="noStrike"/>
                    </a:p>
                  </a:txBody>
                  <a:tcPr marT="54875" marB="54875" marR="109725" marL="109725">
                    <a:solidFill>
                      <a:srgbClr val="EF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Net income</a:t>
                      </a:r>
                      <a:endParaRPr sz="1400" u="none" cap="none" strike="noStrike"/>
                    </a:p>
                  </a:txBody>
                  <a:tcPr marT="54875" marB="54875" marR="109725" marL="109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$823,523</a:t>
                      </a:r>
                      <a:endParaRPr sz="1400" u="none" cap="none" strike="noStrike"/>
                    </a:p>
                  </a:txBody>
                  <a:tcPr marT="54875" marB="54875" marR="109725" marL="109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$170,214</a:t>
                      </a:r>
                      <a:endParaRPr sz="1400" u="none" cap="none" strike="noStrike"/>
                    </a:p>
                  </a:txBody>
                  <a:tcPr marT="54875" marB="54875" marR="109725" marL="109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$94,728</a:t>
                      </a:r>
                      <a:endParaRPr sz="1400" u="none" cap="none" strike="noStrike"/>
                    </a:p>
                  </a:txBody>
                  <a:tcPr marT="54875" marB="54875" marR="109725" marL="109725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Months of cash</a:t>
                      </a:r>
                      <a:endParaRPr sz="1400" u="none" cap="none" strike="noStrike"/>
                    </a:p>
                  </a:txBody>
                  <a:tcPr marT="54875" marB="54875" marR="109725" marL="109725">
                    <a:solidFill>
                      <a:srgbClr val="EFF0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4.5</a:t>
                      </a:r>
                      <a:endParaRPr sz="1400" u="none" cap="none" strike="noStrike"/>
                    </a:p>
                  </a:txBody>
                  <a:tcPr marT="54875" marB="54875" marR="109725" marL="109725">
                    <a:solidFill>
                      <a:srgbClr val="EFF0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—</a:t>
                      </a:r>
                      <a:endParaRPr sz="1400" u="none" cap="none" strike="noStrike"/>
                    </a:p>
                  </a:txBody>
                  <a:tcPr marT="54875" marB="54875" marR="109725" marL="109725">
                    <a:solidFill>
                      <a:srgbClr val="EFF0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—</a:t>
                      </a:r>
                      <a:endParaRPr sz="1400" u="none" cap="none" strike="noStrike"/>
                    </a:p>
                  </a:txBody>
                  <a:tcPr marT="54875" marB="54875" marR="109725" marL="109725">
                    <a:solidFill>
                      <a:srgbClr val="EF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Current ratio</a:t>
                      </a:r>
                      <a:endParaRPr sz="1400" u="none" cap="none" strike="noStrike"/>
                    </a:p>
                  </a:txBody>
                  <a:tcPr marT="54875" marB="54875" marR="109725" marL="109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16.81:1</a:t>
                      </a:r>
                      <a:endParaRPr sz="1400" u="none" cap="none" strike="noStrike"/>
                    </a:p>
                  </a:txBody>
                  <a:tcPr marT="54875" marB="54875" marR="109725" marL="109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—</a:t>
                      </a:r>
                      <a:endParaRPr sz="1400" u="none" cap="none" strike="noStrike"/>
                    </a:p>
                  </a:txBody>
                  <a:tcPr marT="54875" marB="54875" marR="109725" marL="109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—</a:t>
                      </a:r>
                      <a:endParaRPr sz="1400" u="none" cap="none" strike="noStrike"/>
                    </a:p>
                  </a:txBody>
                  <a:tcPr marT="54875" marB="54875" marR="109725" marL="109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367498" y="1"/>
            <a:ext cx="8403013" cy="6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66667"/>
              <a:buNone/>
            </a:pPr>
            <a:r>
              <a:rPr b="1" i="0" lang="en-US" sz="28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Cash on hand: trailing 12 months</a:t>
            </a:r>
            <a:endParaRPr/>
          </a:p>
        </p:txBody>
      </p:sp>
      <p:sp>
        <p:nvSpPr>
          <p:cNvPr id="117" name="Google Shape;117;p5"/>
          <p:cNvSpPr txBox="1"/>
          <p:nvPr/>
        </p:nvSpPr>
        <p:spPr>
          <a:xfrm>
            <a:off x="457200" y="11887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18477"/>
                </a:solidFill>
                <a:latin typeface="Montserrat"/>
                <a:ea typeface="Montserrat"/>
                <a:cs typeface="Montserrat"/>
                <a:sym typeface="Montserrat"/>
              </a:rPr>
              <a:t>CASH ON HAND ($ MILLIONS)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8" name="Google Shape;118;p5"/>
          <p:cNvGraphicFramePr/>
          <p:nvPr/>
        </p:nvGraphicFramePr>
        <p:xfrm>
          <a:off x="457200" y="1554480"/>
          <a:ext cx="8229600" cy="18059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19" name="Google Shape;119;p5"/>
          <p:cNvSpPr/>
          <p:nvPr/>
        </p:nvSpPr>
        <p:spPr>
          <a:xfrm>
            <a:off x="457200" y="3497580"/>
            <a:ext cx="8229600" cy="1005840"/>
          </a:xfrm>
          <a:prstGeom prst="roundRect">
            <a:avLst>
              <a:gd fmla="val 6000" name="adj"/>
            </a:avLst>
          </a:prstGeom>
          <a:solidFill>
            <a:srgbClr val="EF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685800" y="372618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1100" u="none" cap="none" strike="noStrike">
                <a:solidFill>
                  <a:srgbClr val="F07245"/>
                </a:solidFill>
                <a:latin typeface="Montserrat"/>
                <a:ea typeface="Montserrat"/>
                <a:cs typeface="Montserrat"/>
                <a:sym typeface="Montserrat"/>
              </a:rPr>
              <a:t>KEY TAKEAWAY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1000" u="none" cap="none" strike="noStrike">
                <a:solidFill>
                  <a:srgbClr val="26282A"/>
                </a:solidFill>
                <a:latin typeface="Raleway"/>
                <a:ea typeface="Raleway"/>
                <a:cs typeface="Raleway"/>
                <a:sym typeface="Raleway"/>
              </a:rPr>
              <a:t>Cash declined to $1.90M in August after EU tax liability payments and final vendor/contractor settlements for the Global AppSec EU 2026 conference, down from July's $2.24M; the Foundation still holds 4.5 months of cash on hand.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367498" y="1"/>
            <a:ext cx="84030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66667"/>
              <a:buNone/>
            </a:pPr>
            <a:r>
              <a:rPr b="1" i="0" lang="en-US" sz="28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Revenue mix, year to date</a:t>
            </a:r>
            <a:endParaRPr/>
          </a:p>
        </p:txBody>
      </p:sp>
      <p:sp>
        <p:nvSpPr>
          <p:cNvPr id="126" name="Google Shape;126;p6"/>
          <p:cNvSpPr txBox="1"/>
          <p:nvPr/>
        </p:nvSpPr>
        <p:spPr>
          <a:xfrm>
            <a:off x="457200" y="1188720"/>
            <a:ext cx="4191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18477"/>
                </a:solidFill>
                <a:latin typeface="Montserrat"/>
                <a:ea typeface="Montserrat"/>
                <a:cs typeface="Montserrat"/>
                <a:sym typeface="Montserrat"/>
              </a:rPr>
              <a:t>$ THOUSANDS | TOTAL $4.15M</a:t>
            </a:r>
            <a:endParaRPr b="1" i="0" sz="1100" u="none" cap="none" strike="noStrike">
              <a:solidFill>
                <a:srgbClr val="4184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5181600" y="1554480"/>
            <a:ext cx="3505200" cy="2949000"/>
          </a:xfrm>
          <a:prstGeom prst="roundRect">
            <a:avLst>
              <a:gd fmla="val 5167" name="adj"/>
            </a:avLst>
          </a:prstGeom>
          <a:solidFill>
            <a:srgbClr val="EFF0F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5410200" y="1744980"/>
            <a:ext cx="3048000" cy="256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07245"/>
                </a:solidFill>
                <a:latin typeface="Montserrat"/>
                <a:ea typeface="Montserrat"/>
                <a:cs typeface="Montserrat"/>
                <a:sym typeface="Montserrat"/>
              </a:rPr>
              <a:t>KEY TAKEAWAY</a:t>
            </a:r>
            <a:endParaRPr b="1" i="0" sz="1000" u="none" cap="none" strike="noStrike">
              <a:solidFill>
                <a:srgbClr val="F0724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249C9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52%</a:t>
            </a:r>
            <a:endParaRPr b="0" i="0" sz="3200" u="none" cap="none" strike="noStrike">
              <a:solidFill>
                <a:srgbClr val="249C9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6282A"/>
                </a:solidFill>
                <a:latin typeface="Raleway"/>
                <a:ea typeface="Raleway"/>
                <a:cs typeface="Raleway"/>
                <a:sym typeface="Raleway"/>
              </a:rPr>
              <a:t>of all revenue is driven by Sponsorships</a:t>
            </a:r>
            <a:endParaRPr b="1" i="0" sz="1100" u="none" cap="none" strike="noStrike">
              <a:solidFill>
                <a:srgbClr val="26282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418477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84%</a:t>
            </a:r>
            <a:endParaRPr b="0" i="0" sz="3200" u="none" cap="none" strike="noStrike">
              <a:solidFill>
                <a:srgbClr val="418477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6282A"/>
                </a:solidFill>
                <a:latin typeface="Raleway"/>
                <a:ea typeface="Raleway"/>
                <a:cs typeface="Raleway"/>
                <a:sym typeface="Raleway"/>
              </a:rPr>
              <a:t>comes from Conference income (sponsorships, registrations, training)</a:t>
            </a:r>
            <a:endParaRPr b="1" i="0" sz="1100" u="none" cap="none" strike="noStrike">
              <a:solidFill>
                <a:srgbClr val="26282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9" name="Google Shape;129;p6"/>
          <p:cNvSpPr txBox="1"/>
          <p:nvPr/>
        </p:nvSpPr>
        <p:spPr>
          <a:xfrm>
            <a:off x="523875" y="3190875"/>
            <a:ext cx="571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1143000" y="3762375"/>
            <a:ext cx="6669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2381250" y="2619375"/>
            <a:ext cx="762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new_pie5.png" id="132" name="Google Shape;1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79475"/>
            <a:ext cx="4948800" cy="309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367498" y="1"/>
            <a:ext cx="8403013" cy="6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66667"/>
              <a:buNone/>
            </a:pPr>
            <a:r>
              <a:rPr b="1" i="0" lang="en-US" sz="28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Expense mix, year to date</a:t>
            </a:r>
            <a:endParaRPr/>
          </a:p>
        </p:txBody>
      </p:sp>
      <p:sp>
        <p:nvSpPr>
          <p:cNvPr id="138" name="Google Shape;138;p7"/>
          <p:cNvSpPr txBox="1"/>
          <p:nvPr/>
        </p:nvSpPr>
        <p:spPr>
          <a:xfrm>
            <a:off x="457200" y="11887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18477"/>
                </a:solidFill>
                <a:latin typeface="Montserrat"/>
                <a:ea typeface="Montserrat"/>
                <a:cs typeface="Montserrat"/>
                <a:sym typeface="Montserrat"/>
              </a:rPr>
              <a:t>$ THOUSANDS  |  TOTAL $3.31M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9" name="Google Shape;139;p7"/>
          <p:cNvGraphicFramePr/>
          <p:nvPr/>
        </p:nvGraphicFramePr>
        <p:xfrm>
          <a:off x="457200" y="1554480"/>
          <a:ext cx="8229600" cy="18059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40" name="Google Shape;140;p7"/>
          <p:cNvSpPr/>
          <p:nvPr/>
        </p:nvSpPr>
        <p:spPr>
          <a:xfrm>
            <a:off x="457200" y="3497580"/>
            <a:ext cx="8229600" cy="1005840"/>
          </a:xfrm>
          <a:prstGeom prst="roundRect">
            <a:avLst>
              <a:gd fmla="val 6000" name="adj"/>
            </a:avLst>
          </a:prstGeom>
          <a:solidFill>
            <a:srgbClr val="EF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685800" y="372618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1100" u="none" cap="none" strike="noStrike">
                <a:solidFill>
                  <a:srgbClr val="F07245"/>
                </a:solidFill>
                <a:latin typeface="Montserrat"/>
                <a:ea typeface="Montserrat"/>
                <a:cs typeface="Montserrat"/>
                <a:sym typeface="Montserrat"/>
              </a:rPr>
              <a:t>KEY TAKEAWAY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1000" u="none" cap="none" strike="noStrike">
                <a:solidFill>
                  <a:srgbClr val="26282A"/>
                </a:solidFill>
                <a:latin typeface="Raleway"/>
                <a:ea typeface="Raleway"/>
                <a:cs typeface="Raleway"/>
                <a:sym typeface="Raleway"/>
              </a:rPr>
              <a:t>Conference costs (46%) and personnel (23%) account for roughly seventy percent of spend — both tied directly to the mission and events calendar.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Icon.png" id="146" name="Google Shape;14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74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8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4184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502920" y="118872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WHAT THIS MEANS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502920" y="1691640"/>
            <a:ext cx="26517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Board takeaways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4105875" y="350000"/>
            <a:ext cx="4480500" cy="43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4320" lvl="0" marL="27432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18477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494949"/>
                </a:solidFill>
                <a:latin typeface="Montserrat"/>
                <a:ea typeface="Montserrat"/>
                <a:cs typeface="Montserrat"/>
                <a:sym typeface="Montserrat"/>
              </a:rPr>
              <a:t>Net income of $824K year to date.</a:t>
            </a:r>
            <a:endParaRPr b="0" i="0" sz="1800" u="none" cap="none" strike="noStrike">
              <a:solidFill>
                <a:srgbClr val="49494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9494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4320" lvl="0" marL="27432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18477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494949"/>
                </a:solidFill>
                <a:latin typeface="Montserrat"/>
                <a:ea typeface="Montserrat"/>
                <a:cs typeface="Montserrat"/>
                <a:sym typeface="Montserrat"/>
              </a:rPr>
              <a:t>Revenue of $4.15M is 26.7% over budget, led by sponsorships and training.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marR="0" rtl="0" algn="l">
              <a:lnSpc>
                <a:spcPct val="120000"/>
              </a:lnSpc>
              <a:spcBef>
                <a:spcPts val="787"/>
              </a:spcBef>
              <a:spcAft>
                <a:spcPts val="0"/>
              </a:spcAft>
              <a:buClr>
                <a:srgbClr val="418477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494949"/>
                </a:solidFill>
                <a:latin typeface="Montserrat"/>
                <a:ea typeface="Montserrat"/>
                <a:cs typeface="Montserrat"/>
                <a:sym typeface="Montserrat"/>
              </a:rPr>
              <a:t>Expenses of $3.31M ran 6.9% over budget driven by increased conference costs.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marR="0" rtl="0" algn="l">
              <a:lnSpc>
                <a:spcPct val="120000"/>
              </a:lnSpc>
              <a:spcBef>
                <a:spcPts val="787"/>
              </a:spcBef>
              <a:spcAft>
                <a:spcPts val="0"/>
              </a:spcAft>
              <a:buClr>
                <a:srgbClr val="418477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494949"/>
                </a:solidFill>
                <a:latin typeface="Montserrat"/>
                <a:ea typeface="Montserrat"/>
                <a:cs typeface="Montserrat"/>
                <a:sym typeface="Montserrat"/>
              </a:rPr>
              <a:t>Strong liquidity: 4.5 months of cash and a 16.81:1 current ratio.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marR="0" rtl="0" algn="l">
              <a:lnSpc>
                <a:spcPct val="120000"/>
              </a:lnSpc>
              <a:spcBef>
                <a:spcPts val="787"/>
              </a:spcBef>
              <a:spcAft>
                <a:spcPts val="0"/>
              </a:spcAft>
              <a:buClr>
                <a:srgbClr val="418477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494949"/>
                </a:solidFill>
                <a:latin typeface="Montserrat"/>
                <a:ea typeface="Montserrat"/>
                <a:cs typeface="Montserrat"/>
                <a:sym typeface="Montserrat"/>
              </a:rPr>
              <a:t>Actively addressing $410K receivables over 90 days.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/>
          <p:nvPr>
            <p:ph type="title"/>
          </p:nvPr>
        </p:nvSpPr>
        <p:spPr>
          <a:xfrm>
            <a:off x="311700" y="1751226"/>
            <a:ext cx="8520600" cy="9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76923"/>
              <a:buNone/>
            </a:pPr>
            <a:r>
              <a:rPr b="1" i="0" lang="en-US" sz="5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Thank you</a:t>
            </a:r>
            <a:endParaRPr/>
          </a:p>
        </p:txBody>
      </p:sp>
      <p:sp>
        <p:nvSpPr>
          <p:cNvPr id="156" name="Google Shape;156;p9"/>
          <p:cNvSpPr txBox="1"/>
          <p:nvPr/>
        </p:nvSpPr>
        <p:spPr>
          <a:xfrm>
            <a:off x="685800" y="35890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Prepared by The Charity CFO  |  August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wasp_logo_dark.png" id="157" name="Google Shape;15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6140" y="548640"/>
            <a:ext cx="2331720" cy="77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